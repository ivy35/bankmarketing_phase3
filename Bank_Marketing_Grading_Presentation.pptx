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pt idx="0">
                  <c:v>Recall (%)</c:v>
                </c:pt>
              </c:strCache>
            </c:strRef>
          </c:tx>
          <c:invertIfNegative val="1"/>
          <c:cat>
            <c:strRef>
              <c:f>Sheet1!$A$2:$A$3</c:f>
              <c:strCache>
                <c:ptCount val="2"/>
                <c:pt idx="0">
                  <c:v>Logistic Regression</c:v>
                </c:pt>
                <c:pt idx="1">
                  <c:v>Decision Tree</c:v>
                </c:pt>
              </c:strCache>
            </c:strRef>
          </c:cat>
          <c:val>
            <c:numRef>
              <c:f>Sheet1!$B$2:$B$3</c:f>
              <c:numCache>
                <c:formatCode>General</c:formatCode>
                <c:ptCount val="2"/>
                <c:pt idx="0">
                  <c:v>44</c:v>
                </c:pt>
                <c:pt idx="1">
                  <c:v>55</c:v>
                </c:pt>
              </c:numCache>
            </c:numRef>
          </c:val>
          <c:extLst>
            <c:ext xmlns:c16="http://schemas.microsoft.com/office/drawing/2014/chart" uri="{C3380CC4-5D6E-409C-BE32-E72D297353CC}">
              <c16:uniqueId val="{00000000-D9F8-4256-879B-CC29863E32B3}"/>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solidFill>
                  <a:srgbClr val="0066CC"/>
                </a:solidFill>
              </a:rPr>
              <a:t>Bank Marketing Term Deposit Prediction</a:t>
            </a:r>
          </a:p>
        </p:txBody>
      </p:sp>
      <p:sp>
        <p:nvSpPr>
          <p:cNvPr id="3" name="Content Placeholder 2"/>
          <p:cNvSpPr>
            <a:spLocks noGrp="1"/>
          </p:cNvSpPr>
          <p:nvPr>
            <p:ph idx="1"/>
          </p:nvPr>
        </p:nvSpPr>
        <p:spPr/>
        <p:txBody>
          <a:bodyPr/>
          <a:lstStyle/>
          <a:p>
            <a:r>
              <a:t>Data Science Project</a:t>
            </a:r>
          </a:p>
          <a:p>
            <a:r>
              <a:t>Focus: Business Understanding, Modeling, and Evaluation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solidFill>
                  <a:srgbClr val="0066CC"/>
                </a:solidFill>
              </a:rPr>
              <a:t>Project Objective</a:t>
            </a:r>
          </a:p>
        </p:txBody>
      </p:sp>
      <p:sp>
        <p:nvSpPr>
          <p:cNvPr id="3" name="Content Placeholder 2"/>
          <p:cNvSpPr>
            <a:spLocks noGrp="1"/>
          </p:cNvSpPr>
          <p:nvPr>
            <p:ph idx="1"/>
          </p:nvPr>
        </p:nvSpPr>
        <p:spPr/>
        <p:txBody>
          <a:bodyPr/>
          <a:lstStyle/>
          <a:p>
            <a:r>
              <a:t>The objective of this project is to build a predictive model that identifies clients most likely to subscribe to a bank term deposit. This enables targeted marketing, reduces campaign costs, and improves conversion rates.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solidFill>
                  <a:srgbClr val="0066CC"/>
                </a:solidFill>
              </a:rPr>
              <a:t>Business Problem Explanation</a:t>
            </a:r>
          </a:p>
        </p:txBody>
      </p:sp>
      <p:sp>
        <p:nvSpPr>
          <p:cNvPr id="3" name="Content Placeholder 2"/>
          <p:cNvSpPr>
            <a:spLocks noGrp="1"/>
          </p:cNvSpPr>
          <p:nvPr>
            <p:ph idx="1"/>
          </p:nvPr>
        </p:nvSpPr>
        <p:spPr/>
        <p:txBody>
          <a:bodyPr/>
          <a:lstStyle/>
          <a:p>
            <a:r>
              <a:t>Traditional mass marketing is inefficient because most contacted clients do not subscribe. Missing potential subscribers (false negatives) is more costly than contacting uninterested clients. Therefore, recall is prioritized over accuracy.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solidFill>
                  <a:srgbClr val="0066CC"/>
                </a:solidFill>
              </a:rPr>
              <a:t>Dataset Overview</a:t>
            </a:r>
          </a:p>
        </p:txBody>
      </p:sp>
      <p:sp>
        <p:nvSpPr>
          <p:cNvPr id="3" name="Content Placeholder 2"/>
          <p:cNvSpPr>
            <a:spLocks noGrp="1"/>
          </p:cNvSpPr>
          <p:nvPr>
            <p:ph idx="1"/>
          </p:nvPr>
        </p:nvSpPr>
        <p:spPr/>
        <p:txBody>
          <a:bodyPr/>
          <a:lstStyle/>
          <a:p>
            <a:r>
              <a:t>The dataset is sourced from the UCI Machine Learning Repository and contains over 41,000 client records. It includes demographic information, account balances, campaign contact history, and previous campaign outcomes. The target variable is binary (Yes/No).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solidFill>
                  <a:srgbClr val="0066CC"/>
                </a:solidFill>
              </a:rPr>
              <a:t>Data Preparation</a:t>
            </a:r>
          </a:p>
        </p:txBody>
      </p:sp>
      <p:sp>
        <p:nvSpPr>
          <p:cNvPr id="3" name="Content Placeholder 2"/>
          <p:cNvSpPr>
            <a:spLocks noGrp="1"/>
          </p:cNvSpPr>
          <p:nvPr>
            <p:ph idx="1"/>
          </p:nvPr>
        </p:nvSpPr>
        <p:spPr/>
        <p:txBody>
          <a:bodyPr/>
          <a:lstStyle/>
          <a:p>
            <a:r>
              <a:t>Data preprocessing involved handling categorical variables through encoding, ensuring numerical features were in usable formats, and splitting the data into training and testing sets to evaluate generalization performance.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solidFill>
                  <a:srgbClr val="0066CC"/>
                </a:solidFill>
              </a:rPr>
              <a:t>Modeling Approach</a:t>
            </a:r>
          </a:p>
        </p:txBody>
      </p:sp>
      <p:sp>
        <p:nvSpPr>
          <p:cNvPr id="3" name="Content Placeholder 2"/>
          <p:cNvSpPr>
            <a:spLocks noGrp="1"/>
          </p:cNvSpPr>
          <p:nvPr>
            <p:ph idx="1"/>
          </p:nvPr>
        </p:nvSpPr>
        <p:spPr/>
        <p:txBody>
          <a:bodyPr/>
          <a:lstStyle/>
          <a:p>
            <a:r>
              <a:t>Logistic Regression was used as a baseline due to its simplicity and interpretability. A Decision Tree model was then trained and tuned to capture non-linear relationships and improve recall performance.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solidFill>
                  <a:srgbClr val="0066CC"/>
                </a:solidFill>
              </a:rPr>
              <a:t>Evaluation Metrics Justification</a:t>
            </a:r>
          </a:p>
        </p:txBody>
      </p:sp>
      <p:sp>
        <p:nvSpPr>
          <p:cNvPr id="3" name="Content Placeholder 2"/>
          <p:cNvSpPr>
            <a:spLocks noGrp="1"/>
          </p:cNvSpPr>
          <p:nvPr>
            <p:ph idx="1"/>
          </p:nvPr>
        </p:nvSpPr>
        <p:spPr/>
        <p:txBody>
          <a:bodyPr/>
          <a:lstStyle/>
          <a:p>
            <a:r>
              <a:t>Accuracy alone is insufficient due to class imbalance. Recall was chosen as the primary metric to minimize missed potential subscribers. Confusion matrices and ROC-AUC were used to assess overall model robustness.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solidFill>
                  <a:srgbClr val="0066CC"/>
                </a:solidFill>
              </a:rPr>
              <a:t>Model Performance Results</a:t>
            </a:r>
          </a:p>
        </p:txBody>
      </p:sp>
      <p:sp>
        <p:nvSpPr>
          <p:cNvPr id="3" name="Content Placeholder 2"/>
          <p:cNvSpPr>
            <a:spLocks noGrp="1"/>
          </p:cNvSpPr>
          <p:nvPr>
            <p:ph idx="1"/>
          </p:nvPr>
        </p:nvSpPr>
        <p:spPr/>
        <p:txBody>
          <a:bodyPr/>
          <a:lstStyle/>
          <a:p>
            <a:r>
              <a:t>Logistic Regression achieved 92% accuracy but only 44% recall. The tuned Decision Tree achieved 91% accuracy and improved recall to 55%. This trade-off better aligns with business objectives.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solidFill>
                  <a:srgbClr val="0066CC"/>
                </a:solidFill>
              </a:rPr>
              <a:t>Model Performance (Visual)</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solidFill>
                  <a:srgbClr val="0066CC"/>
                </a:solidFill>
              </a:rPr>
              <a:t>Recall Comparison Between Models</a:t>
            </a:r>
          </a:p>
        </p:txBody>
      </p:sp>
      <p:graphicFrame>
        <p:nvGraphicFramePr>
          <p:cNvPr id="3" name="Chart 2"/>
          <p:cNvGraphicFramePr>
            <a:graphicFrameLocks noGrp="1"/>
          </p:cNvGraphicFramePr>
          <p:nvPr/>
        </p:nvGraphicFramePr>
        <p:xfrm>
          <a:off x="914400" y="1645920"/>
          <a:ext cx="7315200" cy="36576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solidFill>
                  <a:srgbClr val="0066CC"/>
                </a:solidFill>
              </a:rPr>
              <a:t>Feature Importance Interpretation</a:t>
            </a:r>
          </a:p>
        </p:txBody>
      </p:sp>
      <p:sp>
        <p:nvSpPr>
          <p:cNvPr id="3" name="Content Placeholder 2"/>
          <p:cNvSpPr>
            <a:spLocks noGrp="1"/>
          </p:cNvSpPr>
          <p:nvPr>
            <p:ph idx="1"/>
          </p:nvPr>
        </p:nvSpPr>
        <p:spPr/>
        <p:txBody>
          <a:bodyPr/>
          <a:lstStyle/>
          <a:p>
            <a:r>
              <a:t>Campaign-related features such as contact frequency and previous success strongly influence subscription likelihood. Financial indicators like balance and age also play a significant role, reflecting client stability and engagement.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solidFill>
                  <a:srgbClr val="0066CC"/>
                </a:solidFill>
              </a:rPr>
              <a:t>Business Recommendations Explained</a:t>
            </a:r>
          </a:p>
        </p:txBody>
      </p:sp>
      <p:sp>
        <p:nvSpPr>
          <p:cNvPr id="3" name="Content Placeholder 2"/>
          <p:cNvSpPr>
            <a:spLocks noGrp="1"/>
          </p:cNvSpPr>
          <p:nvPr>
            <p:ph idx="1"/>
          </p:nvPr>
        </p:nvSpPr>
        <p:spPr/>
        <p:txBody>
          <a:bodyPr/>
          <a:lstStyle/>
          <a:p>
            <a:r>
              <a:t>The bank should prioritize clients with high predicted probabilities, limit excessive contact attempts to avoid fatigue, and incorporate model predictions into campaign planning systems.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solidFill>
                  <a:srgbClr val="0066CC"/>
                </a:solidFill>
              </a:rPr>
              <a:t>Limitations</a:t>
            </a:r>
          </a:p>
        </p:txBody>
      </p:sp>
      <p:sp>
        <p:nvSpPr>
          <p:cNvPr id="3" name="Content Placeholder 2"/>
          <p:cNvSpPr>
            <a:spLocks noGrp="1"/>
          </p:cNvSpPr>
          <p:nvPr>
            <p:ph idx="1"/>
          </p:nvPr>
        </p:nvSpPr>
        <p:spPr/>
        <p:txBody>
          <a:bodyPr/>
          <a:lstStyle/>
          <a:p>
            <a:r>
              <a:t>The dataset is imbalanced, which limits recall. No cost-sensitive learning was applied. Customer behavior may change over time, requiring regular retraining.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solidFill>
                  <a:srgbClr val="0066CC"/>
                </a:solidFill>
              </a:rPr>
              <a:t>Conclusion</a:t>
            </a:r>
          </a:p>
        </p:txBody>
      </p:sp>
      <p:sp>
        <p:nvSpPr>
          <p:cNvPr id="3" name="Content Placeholder 2"/>
          <p:cNvSpPr>
            <a:spLocks noGrp="1"/>
          </p:cNvSpPr>
          <p:nvPr>
            <p:ph idx="1"/>
          </p:nvPr>
        </p:nvSpPr>
        <p:spPr/>
        <p:txBody>
          <a:bodyPr/>
          <a:lstStyle/>
          <a:p>
            <a:r>
              <a:t>This project demonstrates an end-to-end data science workflow. The Decision Tree model provides better alignment with business goals. Predictive modeling can significantly improve marketing efficiency.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1e396689-5035-49e0-be07-7dfa8fa9a49e}" enabled="1" method="Privileged" siteId="{74347ffe-8392-4a6f-9cd2-4d7371e222a1}" contentBits="0" removed="0"/>
</clbl:labelList>
</file>

<file path=docProps/app.xml><?xml version="1.0" encoding="utf-8"?>
<Properties xmlns="http://schemas.openxmlformats.org/officeDocument/2006/extended-properties" xmlns:vt="http://schemas.openxmlformats.org/officeDocument/2006/docPropsVTypes">
  <TotalTime>3</TotalTime>
  <Words>415</Words>
  <Application>Microsoft Office PowerPoint</Application>
  <PresentationFormat>On-screen Show (4:3)</PresentationFormat>
  <Paragraphs>28</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Bank Marketing Term Deposit Prediction</vt:lpstr>
      <vt:lpstr>Project Objective</vt:lpstr>
      <vt:lpstr>Business Problem Explanation</vt:lpstr>
      <vt:lpstr>Dataset Overview</vt:lpstr>
      <vt:lpstr>Data Preparation</vt:lpstr>
      <vt:lpstr>Modeling Approach</vt:lpstr>
      <vt:lpstr>Evaluation Metrics Justification</vt:lpstr>
      <vt:lpstr>Model Performance Results</vt:lpstr>
      <vt:lpstr>Model Performance (Visual)</vt:lpstr>
      <vt:lpstr>Recall Comparison Between Models</vt:lpstr>
      <vt:lpstr>Feature Importance Interpretation</vt:lpstr>
      <vt:lpstr>Business Recommendations Explained</vt:lpstr>
      <vt:lpstr>Limitations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Ivy Jepkosgei Cheptim</dc:creator>
  <cp:keywords/>
  <dc:description>generated using python-pptx</dc:description>
  <cp:lastModifiedBy>Ivy Jepkosgei Cheptim</cp:lastModifiedBy>
  <cp:revision>2</cp:revision>
  <dcterms:created xsi:type="dcterms:W3CDTF">2013-01-27T09:14:16Z</dcterms:created>
  <dcterms:modified xsi:type="dcterms:W3CDTF">2026-02-12T08:37:20Z</dcterms:modified>
  <cp:category/>
</cp:coreProperties>
</file>